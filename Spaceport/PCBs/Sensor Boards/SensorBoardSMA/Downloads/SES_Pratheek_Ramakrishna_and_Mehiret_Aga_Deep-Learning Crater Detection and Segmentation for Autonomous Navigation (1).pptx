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2D71"/>
    <a:srgbClr val="052E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0202-8BA0-4840-B32D-7FC2437FFA0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DE6E-B9F7-4372-9938-8AA77D1C9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9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63CC-ACD4-4DAF-87BB-10F1560A9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376B2-2FA4-4BE0-A555-1D0CDCB53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2948-4B40-41ED-86FA-39106475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7646-39AF-4546-929E-9A94E27D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8700-B5F8-4477-A33E-ACEDA1B4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2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D439-F609-4826-8D0D-A6A5E2C2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2BC2B-C95C-467B-A88A-30E1C4D73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7B376-E895-4EB1-8DD0-FB3E1E20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0BB81-2E13-42DF-96F2-3CC97E6D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F9BAF-A225-4477-969F-E6600E05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00BD-DCC2-44C3-9D25-8E812B3D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22AA7-7A14-4165-9358-247BBE58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1B99F-64D1-4889-95F4-4E35ADFC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A1A4-6536-4F13-AC3E-A5B2C57A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3C66E-854E-4027-81B3-3B493E72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6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9EA9-93D5-4C2A-99D4-1318867C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E70A-4892-41B2-AAE6-ACC1AECBC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2052E-E128-4CA8-87D0-BAD32880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A00E3-C650-488A-84F1-5DE997FC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2767A-9D82-459C-B222-11EF42CF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1C57B-5D59-421A-9247-2C16545B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C01A-4228-44AF-BE39-2F632BEC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9F0AC-F275-4ED6-930C-C36910507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458B7-53BB-4D67-A024-857F3B29B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9968F-C836-4E14-B0E0-1E85A697B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EB142-0659-4CCA-A34C-D196074C3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EEA1D-2D30-4D63-AE42-2926ECE5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57A37-04F6-4FA8-8DC6-BBD862DC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56535-2680-49F3-AEE1-2E3C86AC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68A8-F271-4EA8-BCB8-0A4FE839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55490-C1A3-45FE-984C-E6635FF7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D2197-FF42-47BE-96C3-69CFE4DA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A7097-0B99-4662-A87D-45C47DFE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8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D6326-BF80-4EAB-9073-11E41B8B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40C5B0-FF16-4DDD-AA65-438E24D0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3F56E-4F02-42C5-B853-8D20ED04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4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7A9F-7ED9-46C2-BC79-B3FC1834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561CC-7EA6-4852-ACCA-79F74C6A2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9BCA4-1CBA-4388-AD04-DA4CF5A03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E2FA0-4BAD-45BB-8CBD-62D9EE09F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3C043-C47F-43AD-8C5B-1B684933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4B6A9-A642-4128-8DFB-CFFACE5F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4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17F5-64B6-4D21-9E41-58B32623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663EB6-1FB7-44AD-9604-7E88FCAD2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BEA70-34F6-4440-9CEB-69D87BF34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7C924-CB73-4A4F-BD4D-CD3BB689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82323-DC0B-4E24-8F88-EF993DD0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DC9C-513F-40A0-81FE-77708979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3288C-8FA3-4592-80B4-0DF902FB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6F175-716D-4F38-9BE6-7B9F79CD7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76F24-C647-47CA-8450-0FEE89D7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1E5E4-B514-4D36-B5E9-3B32A8CA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2647-7EAB-457A-9305-32DEBA2C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3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9B14C-603B-40F9-9644-2E35883BB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4169D-EE72-4357-9C59-C68028BE7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795A9-105D-4035-A4C6-F8237185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4D5C8-CE9D-419D-9FBF-52AB9B45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809C6-A0C5-4EA6-A733-E16C8FD0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7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" y="2576"/>
            <a:ext cx="2895600" cy="89504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22BC-7B67-456A-B5FF-FC35F7CDA3A1}" type="datetime3">
              <a:rPr lang="en-US" smtClean="0"/>
              <a:t>6 October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873829" y="186418"/>
            <a:ext cx="6389914" cy="5320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" y="6172200"/>
            <a:ext cx="11588671" cy="41637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baseline="0">
                <a:solidFill>
                  <a:schemeClr val="bg1"/>
                </a:solidFill>
              </a:defRPr>
            </a:lvl1pPr>
            <a:lvl2pPr marL="257175" indent="0" algn="ctr">
              <a:buNone/>
              <a:defRPr sz="1013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1013"/>
            </a:lvl4pPr>
            <a:lvl5pPr marL="1028700" indent="0" algn="ctr">
              <a:buNone/>
              <a:defRPr sz="1013"/>
            </a:lvl5pPr>
          </a:lstStyle>
          <a:p>
            <a:pPr lvl="0"/>
            <a:r>
              <a:rPr lang="en-US" dirty="0"/>
              <a:t>Click to add optional callout text or delete box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9481458" y="180975"/>
            <a:ext cx="2412093" cy="600075"/>
          </a:xfrm>
        </p:spPr>
        <p:txBody>
          <a:bodyPr>
            <a:normAutofit/>
          </a:bodyPr>
          <a:lstStyle>
            <a:lvl1pPr marL="0" indent="0" algn="ctr">
              <a:buNone/>
              <a:defRPr sz="7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additional </a:t>
            </a:r>
            <a:br>
              <a:rPr lang="en-US" dirty="0"/>
            </a:br>
            <a:r>
              <a:rPr lang="en-US" dirty="0"/>
              <a:t>partner logo(s)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28471" y="781051"/>
            <a:ext cx="11565079" cy="280307"/>
          </a:xfrm>
        </p:spPr>
        <p:txBody>
          <a:bodyPr>
            <a:noAutofit/>
          </a:bodyPr>
          <a:lstStyle>
            <a:lvl1pPr marL="0" indent="0" algn="ctr">
              <a:buNone/>
              <a:defRPr sz="825" b="1" baseline="0">
                <a:solidFill>
                  <a:schemeClr val="bg1">
                    <a:lumMod val="85000"/>
                  </a:schemeClr>
                </a:solidFill>
              </a:defRPr>
            </a:lvl1pPr>
            <a:lvl2pPr marL="335756" indent="0" algn="ctr">
              <a:buNone/>
              <a:defRPr sz="750"/>
            </a:lvl2pPr>
            <a:lvl3pPr marL="691753" indent="0" algn="ctr">
              <a:buNone/>
              <a:defRPr sz="750"/>
            </a:lvl3pPr>
            <a:lvl4pPr marL="1034653" indent="0" algn="ctr">
              <a:buNone/>
              <a:defRPr sz="750"/>
            </a:lvl4pPr>
            <a:lvl5pPr marL="1376363" indent="0" algn="ctr">
              <a:buNone/>
              <a:defRPr sz="750"/>
            </a:lvl5pPr>
          </a:lstStyle>
          <a:p>
            <a:pPr lvl="0"/>
            <a:r>
              <a:rPr lang="en-US" dirty="0"/>
              <a:t>Click to add authors’ names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093958"/>
            <a:ext cx="11595100" cy="148059"/>
          </a:xfrm>
        </p:spPr>
        <p:txBody>
          <a:bodyPr>
            <a:normAutofit/>
          </a:bodyPr>
          <a:lstStyle>
            <a:lvl1pPr marL="0" indent="0" algn="ctr">
              <a:buNone/>
              <a:defRPr sz="675" b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authors’ institutions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-3628" y="6667500"/>
            <a:ext cx="12192000" cy="187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5400"/>
          </a:p>
        </p:txBody>
      </p:sp>
      <p:sp>
        <p:nvSpPr>
          <p:cNvPr id="21" name="Date Placeholder 3"/>
          <p:cNvSpPr txBox="1">
            <a:spLocks/>
          </p:cNvSpPr>
          <p:nvPr userDrawn="1"/>
        </p:nvSpPr>
        <p:spPr>
          <a:xfrm>
            <a:off x="10066494" y="6690948"/>
            <a:ext cx="1823349" cy="141823"/>
          </a:xfrm>
          <a:prstGeom prst="rect">
            <a:avLst/>
          </a:prstGeom>
        </p:spPr>
        <p:txBody>
          <a:bodyPr vert="horz" lIns="17145" tIns="0" rIns="17145" bIns="0" rtlCol="0" anchor="ctr"/>
          <a:lstStyle>
            <a:defPPr>
              <a:defRPr lang="en-US"/>
            </a:defPPr>
            <a:lvl1pPr marL="0" algn="r" defTabSz="3657600" rtl="0" eaLnBrk="1" latinLnBrk="0" hangingPunct="1"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9C8480-8E7F-4E2B-9C3D-F71E3163980E}" type="datetime3">
              <a:rPr lang="en-US" sz="600" smtClean="0"/>
              <a:pPr/>
              <a:t>6 October 2024</a:t>
            </a:fld>
            <a:endParaRPr lang="en-US" sz="600" dirty="0"/>
          </a:p>
        </p:txBody>
      </p:sp>
      <p:sp>
        <p:nvSpPr>
          <p:cNvPr id="18" name="Content Placeholder 2"/>
          <p:cNvSpPr>
            <a:spLocks noGrp="1"/>
          </p:cNvSpPr>
          <p:nvPr>
            <p:ph idx="21" hasCustomPrompt="1"/>
          </p:nvPr>
        </p:nvSpPr>
        <p:spPr>
          <a:xfrm>
            <a:off x="317586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 hasCustomPrompt="1"/>
          </p:nvPr>
        </p:nvSpPr>
        <p:spPr>
          <a:xfrm>
            <a:off x="3252826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idx="23" hasCustomPrompt="1"/>
          </p:nvPr>
        </p:nvSpPr>
        <p:spPr>
          <a:xfrm>
            <a:off x="6188066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idx="24" hasCustomPrompt="1"/>
          </p:nvPr>
        </p:nvSpPr>
        <p:spPr>
          <a:xfrm>
            <a:off x="9123307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031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22BBD-BD8C-4329-B389-94B192DC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CC0D6-850F-4B90-9A00-E240BDC22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C382-6E18-43DE-A8F9-DF1897CD3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B9558-6193-4AA0-A9D9-07BC502EA963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9E918-BE32-4395-A841-D024B72ED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787F4-3FBB-40EF-B1A6-FE1BF0DF8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8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3EFADBB6-93B0-4505-AA7F-DE2F5E0F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132" y="187203"/>
            <a:ext cx="7273348" cy="532039"/>
          </a:xfrm>
        </p:spPr>
        <p:txBody>
          <a:bodyPr>
            <a:noAutofit/>
          </a:bodyPr>
          <a:lstStyle/>
          <a:p>
            <a:pPr algn="ctr"/>
            <a:r>
              <a:rPr lang="en-US" sz="2000" b="1" i="0" dirty="0">
                <a:solidFill>
                  <a:srgbClr val="D1D2D3"/>
                </a:solidFill>
                <a:effectLst/>
                <a:latin typeface="+mn-lt"/>
              </a:rPr>
              <a:t>Deep-Learning Crater Detection and Segmentation for Autonomous Navigation</a:t>
            </a:r>
            <a:endParaRPr lang="en-US" sz="2000" b="1" dirty="0">
              <a:latin typeface="+mn-lt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CDC7B48-E8F8-49A2-909D-CD473DE6DE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63743" y="6172200"/>
            <a:ext cx="2629728" cy="416378"/>
          </a:xfrm>
        </p:spPr>
        <p:txBody>
          <a:bodyPr/>
          <a:lstStyle/>
          <a:p>
            <a:r>
              <a:rPr lang="en-US" dirty="0"/>
              <a:t>Special thanks to Ike Witte and ASPIRE program for mentorship and guidance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4E50577-3B17-42F6-B21D-23735EF10E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8472" y="742229"/>
            <a:ext cx="11565079" cy="280307"/>
          </a:xfrm>
        </p:spPr>
        <p:txBody>
          <a:bodyPr/>
          <a:lstStyle/>
          <a:p>
            <a:r>
              <a:rPr lang="en-US" sz="1400" dirty="0" err="1"/>
              <a:t>Pratheek</a:t>
            </a:r>
            <a:r>
              <a:rPr lang="en-US" sz="1400" dirty="0"/>
              <a:t> Ramakrishna and Mehiret Aga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F70E3E4-C6C1-4DBB-A2F1-E378E0B834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67673" y="933810"/>
            <a:ext cx="2536857" cy="280307"/>
          </a:xfrm>
        </p:spPr>
        <p:txBody>
          <a:bodyPr>
            <a:noAutofit/>
          </a:bodyPr>
          <a:lstStyle/>
          <a:p>
            <a:r>
              <a:rPr lang="en-US" sz="1400" b="1" dirty="0"/>
              <a:t>Mentored by Ike Witte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448ED670-B509-4EAB-A2D4-76F225BD773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79485" y="781050"/>
            <a:ext cx="2763894" cy="4933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Key terms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Yolo V8: </a:t>
            </a:r>
            <a:r>
              <a:rPr lang="en-US" sz="1200" dirty="0">
                <a:latin typeface="+mj-lt"/>
              </a:rPr>
              <a:t>An algorithm used to train AI given a data set consisting of images and labels.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MATLAB: </a:t>
            </a:r>
            <a:r>
              <a:rPr lang="en-US" sz="1200" dirty="0">
                <a:latin typeface="+mj-lt"/>
              </a:rPr>
              <a:t>Programming software that we used to generate our images of the moon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DEM: </a:t>
            </a:r>
            <a:r>
              <a:rPr lang="en-US" sz="1200" dirty="0">
                <a:latin typeface="+mj-lt"/>
              </a:rPr>
              <a:t>Digital Elevation Map. Essentially a photo of a part of the moon with geographical information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Lunar Crater Database Robbins: </a:t>
            </a:r>
            <a:r>
              <a:rPr lang="en-US" sz="1200" dirty="0">
                <a:latin typeface="+mj-lt"/>
              </a:rPr>
              <a:t>Database of about 1.3 million craters moon that are &gt; 1-2km in diameter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Why Do This?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After research of existing datasets through websites like </a:t>
            </a:r>
            <a:r>
              <a:rPr lang="en-US" sz="1200" dirty="0" err="1">
                <a:latin typeface="+mj-lt"/>
              </a:rPr>
              <a:t>Roboflow</a:t>
            </a:r>
            <a:r>
              <a:rPr lang="en-US" sz="1200" dirty="0">
                <a:latin typeface="+mj-lt"/>
              </a:rPr>
              <a:t> of crater detection training datasets we concluded that the vast majority of data sets consisted of a top-down view of craters.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After training AI on this limited dataset, we tested on moon crater images taken from oblique angles. </a:t>
            </a: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C8162138-D439-4569-B623-613B72168D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437319" y="1347356"/>
            <a:ext cx="2763894" cy="4797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What did We Do?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Make a new dataset to train AI with rendered oblique images of craters.</a:t>
            </a:r>
          </a:p>
          <a:p>
            <a:pPr marL="0" indent="0">
              <a:buNone/>
            </a:pPr>
            <a:r>
              <a:rPr lang="en-US" sz="1600" b="1" dirty="0"/>
              <a:t>How?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1. Correlate all the craters on that are within the specified region of our DEM to the craters in Lunar Crater Database Robbins using MATLAB programming</a:t>
            </a:r>
          </a:p>
          <a:p>
            <a:r>
              <a:rPr lang="en-US" sz="1200" dirty="0">
                <a:latin typeface="+mj-lt"/>
              </a:rPr>
              <a:t>Use the coordinates given for each crater and determine if the crater is even located on the DEM</a:t>
            </a:r>
          </a:p>
          <a:p>
            <a:r>
              <a:rPr lang="en-US" sz="1200" dirty="0">
                <a:latin typeface="+mj-lt"/>
              </a:rPr>
              <a:t>If crater is located on the DEM, plot the center of the crater as well of the diameter of the crater as listed in the spreadsheet</a:t>
            </a:r>
          </a:p>
          <a:p>
            <a:r>
              <a:rPr lang="en-US" sz="1200" dirty="0">
                <a:latin typeface="+mj-lt"/>
              </a:rPr>
              <a:t>Perform operation for 1.3 million craters</a:t>
            </a:r>
          </a:p>
          <a:p>
            <a:endParaRPr lang="en-US" sz="1200" b="1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B2E569AA-593B-492C-9FDF-A917A86BE43F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88066" y="1323075"/>
            <a:ext cx="2763894" cy="4797303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How?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2. Render images of the moon and annotate the images to identify craters using MATLAB script</a:t>
            </a:r>
          </a:p>
          <a:p>
            <a:r>
              <a:rPr lang="en-US" sz="1200" dirty="0">
                <a:latin typeface="+mj-lt"/>
              </a:rPr>
              <a:t>Images are rendered through a MATLAB script that takes in the DEM and renders an image of the crater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3. Train the Yolo V8 algorithm </a:t>
            </a:r>
          </a:p>
          <a:p>
            <a:r>
              <a:rPr lang="en-US" sz="1200" dirty="0">
                <a:latin typeface="+mj-lt"/>
              </a:rPr>
              <a:t>Inputted rendered images and the coordinates of the craters </a:t>
            </a:r>
          </a:p>
          <a:p>
            <a:r>
              <a:rPr lang="en-US" sz="1200" dirty="0">
                <a:latin typeface="+mj-lt"/>
              </a:rPr>
              <a:t>AI detects a pattern and then essentially quizzes itself to ensure that it is, based off the given pattern, detecting craters properly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A41ABAF2-E746-4646-A3F0-063418193C1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9312135" y="781050"/>
            <a:ext cx="2763894" cy="4797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55C0CF-563B-462E-A75B-38FCA4BE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823" y="4917986"/>
            <a:ext cx="1151701" cy="17389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6D6F73-3DCD-4D8A-974D-AC1A89994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060" y="2924362"/>
            <a:ext cx="1336246" cy="13450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C616A60-52E2-49F3-AF52-7748DB8A6C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472"/>
          <a:stretch/>
        </p:blipFill>
        <p:spPr>
          <a:xfrm>
            <a:off x="426297" y="5632401"/>
            <a:ext cx="2659896" cy="1024517"/>
          </a:xfrm>
          <a:prstGeom prst="rect">
            <a:avLst/>
          </a:prstGeom>
        </p:spPr>
      </p:pic>
      <p:pic>
        <p:nvPicPr>
          <p:cNvPr id="1026" name="Picture 2" descr="Unleash the Power of YOLO v8: Object Detection Done Right">
            <a:extLst>
              <a:ext uri="{FF2B5EF4-FFF2-40B4-BE49-F238E27FC236}">
                <a16:creationId xmlns:a16="http://schemas.microsoft.com/office/drawing/2014/main" id="{A92513C2-862D-4005-8C75-E48CFB219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051" y="5883988"/>
            <a:ext cx="1381185" cy="77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95F668C-C9D8-4BA7-88EE-81B96D8EAFB4}"/>
              </a:ext>
            </a:extLst>
          </p:cNvPr>
          <p:cNvSpPr txBox="1"/>
          <p:nvPr/>
        </p:nvSpPr>
        <p:spPr>
          <a:xfrm>
            <a:off x="9209902" y="4803276"/>
            <a:ext cx="2664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2D20B1-39BF-4A2E-B54E-D7A0CF39B69F}"/>
              </a:ext>
            </a:extLst>
          </p:cNvPr>
          <p:cNvSpPr txBox="1"/>
          <p:nvPr/>
        </p:nvSpPr>
        <p:spPr>
          <a:xfrm>
            <a:off x="9216118" y="5110040"/>
            <a:ext cx="2866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New crater detection model excelled at distinguishing between craters and other objects and had few false positives. However, more data may be required to identify smaller craters.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en-US" sz="800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1200" dirty="0">
              <a:solidFill>
                <a:schemeClr val="bg1"/>
              </a:solidFill>
              <a:latin typeface="+mj-lt"/>
            </a:endParaRPr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7C0E40F-A15A-41B1-B573-C7B06B7BA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5483" y="1243324"/>
            <a:ext cx="1515040" cy="160271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294BF3-266C-4D1C-9DF6-929B6E38E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3003" y="3062538"/>
            <a:ext cx="1669020" cy="178492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D2AD818-9908-4210-8F68-6563834DB9C8}"/>
              </a:ext>
            </a:extLst>
          </p:cNvPr>
          <p:cNvSpPr txBox="1"/>
          <p:nvPr/>
        </p:nvSpPr>
        <p:spPr>
          <a:xfrm>
            <a:off x="11017513" y="1442015"/>
            <a:ext cx="804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Detection  using </a:t>
            </a:r>
            <a:r>
              <a:rPr lang="en-US" sz="1200" dirty="0" err="1">
                <a:solidFill>
                  <a:schemeClr val="bg1"/>
                </a:solidFill>
                <a:latin typeface="+mj-lt"/>
              </a:rPr>
              <a:t>Roboflow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 crater training dataset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D32B0B-44DF-4973-90DE-F9158D27FD9D}"/>
              </a:ext>
            </a:extLst>
          </p:cNvPr>
          <p:cNvSpPr txBox="1"/>
          <p:nvPr/>
        </p:nvSpPr>
        <p:spPr>
          <a:xfrm>
            <a:off x="9312135" y="3480233"/>
            <a:ext cx="874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Detection using lunar crater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8D751-2494-4299-A278-0DEDB7EB6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7982" y="5167205"/>
            <a:ext cx="1036410" cy="14936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CA6130-44D7-46DA-811B-9E3F23B744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6992" y="3277404"/>
            <a:ext cx="618327" cy="618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229D31-DDEC-406C-8306-186F30F234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9943" y="148382"/>
            <a:ext cx="845893" cy="670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237E0D-3584-484B-8845-7356FA6963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0806" y="2929603"/>
            <a:ext cx="1381184" cy="13899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2AF072-042B-46C2-AB60-9605A6BC7857}"/>
              </a:ext>
            </a:extLst>
          </p:cNvPr>
          <p:cNvSpPr/>
          <p:nvPr/>
        </p:nvSpPr>
        <p:spPr>
          <a:xfrm>
            <a:off x="10681310" y="6722866"/>
            <a:ext cx="1404994" cy="87893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710B7-DE59-24D6-C4EC-7C6CE71D885D}"/>
              </a:ext>
            </a:extLst>
          </p:cNvPr>
          <p:cNvSpPr txBox="1"/>
          <p:nvPr/>
        </p:nvSpPr>
        <p:spPr>
          <a:xfrm>
            <a:off x="11264243" y="6650961"/>
            <a:ext cx="8474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23 May 2024</a:t>
            </a:r>
          </a:p>
        </p:txBody>
      </p:sp>
    </p:spTree>
    <p:extLst>
      <p:ext uri="{BB962C8B-B14F-4D97-AF65-F5344CB8AC3E}">
        <p14:creationId xmlns:p14="http://schemas.microsoft.com/office/powerpoint/2010/main" val="1099412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377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Deep-Learning Crater Detection and Segmentation for Autonomous Navigation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Deep-Learning Crater Detection and Segmentation for Autonomous Navigation</dc:title>
  <dc:creator>Aga, Mehiret A.</dc:creator>
  <cp:lastModifiedBy>Pratheek Ramakrishna</cp:lastModifiedBy>
  <cp:revision>7</cp:revision>
  <dcterms:modified xsi:type="dcterms:W3CDTF">2024-10-06T19:50:46Z</dcterms:modified>
</cp:coreProperties>
</file>